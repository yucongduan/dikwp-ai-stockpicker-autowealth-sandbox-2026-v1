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StockPicker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AutoWealth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V1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AI荐股器与自动理财平台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的合规沙箱版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40050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股票研究优先级 · 纸面组合 · 适当性 · 人工复核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17720" y="713232"/>
            <a:ext cx="6675120" cy="5074920"/>
          </a:xfrm>
          <a:prstGeom prst="roundRect">
            <a:avLst>
              <a:gd name="adj" fmla="val 901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3168" y="850392"/>
            <a:ext cx="6364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一句话定位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4773168" y="1170432"/>
            <a:ext cx="6364224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把“AI荐股”和“自动理财”重构为：投资者适当性、证据化股票研究、纸面组合、压力测试、AI Use Log和持牌顾问/合规复核。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开源核心不推荐真实股票、不连接交易接口、不保存账户、不自动下单。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5989320"/>
            <a:ext cx="1691640" cy="338328"/>
          </a:xfrm>
          <a:prstGeom prst="roundRect">
            <a:avLst>
              <a:gd name="adj" fmla="val 13514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60624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629400" y="5989320"/>
            <a:ext cx="1737360" cy="338328"/>
          </a:xfrm>
          <a:prstGeom prst="roundRect">
            <a:avLst>
              <a:gd name="adj" fmla="val 13514"/>
            </a:avLst>
          </a:prstGeom>
          <a:solidFill>
            <a:srgbClr val="2E7D5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6062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Paper Only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503920" y="5989320"/>
            <a:ext cx="1691640" cy="338328"/>
          </a:xfrm>
          <a:prstGeom prst="roundRect">
            <a:avLst>
              <a:gd name="adj" fmla="val 13514"/>
            </a:avLst>
          </a:prstGeom>
          <a:solidFill>
            <a:srgbClr val="6741A5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60624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Review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332720" y="5989320"/>
            <a:ext cx="914400" cy="338328"/>
          </a:xfrm>
          <a:prstGeom prst="roundRect">
            <a:avLst>
              <a:gd name="adj" fmla="val 13514"/>
            </a:avLst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78440" y="60624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 Trade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一、为什么不能直接交付“真实荐股+自动下单”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960120"/>
            <a:ext cx="3474720" cy="4617720"/>
          </a:xfrm>
          <a:prstGeom prst="roundRect">
            <a:avLst>
              <a:gd name="adj" fmla="val 1316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097280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监管与适当性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163824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涉及证券及相关产品的投资建议、组合和理财规划，正式业务需要合规主体、内部控制、利益冲突管理和客户适当性。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2544" y="960120"/>
            <a:ext cx="3474720" cy="4617720"/>
          </a:xfrm>
          <a:prstGeom prst="roundRect">
            <a:avLst>
              <a:gd name="adj" fmla="val 1316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097280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投资者保护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07992" y="1417320"/>
            <a:ext cx="3163824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荐股和自动理财若直接输出买卖指令，容易诱导客户承担与风险承受能力不匹配的波动、杠杆和集中风险。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73568" y="960120"/>
            <a:ext cx="3474720" cy="4617720"/>
          </a:xfrm>
          <a:prstGeom prst="roundRect">
            <a:avLst>
              <a:gd name="adj" fmla="val 1316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1097280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AI模型风险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29016" y="1417320"/>
            <a:ext cx="3163824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AI可能幻觉、追热点、过拟合、忽略费用和流动性；IOSCO和NIST均强调AI治理、测试、监测与人工监督。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5815584"/>
            <a:ext cx="950976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888736"/>
            <a:ext cx="9418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本交付提供可运行的合规沙箱：研究、投教、纸面组合、尽调、复核；不提供实盘荐股器或自动交易。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二、完整流程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960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投资者画像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32104" y="1417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风险等级、期限、回撤、目的和流动性。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71416" y="960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Evidence Ledger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626864" y="1417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行情、财报、公告、费用、AI输出和数据质量。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960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股票研究清单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421624" y="1417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因子打分、反证、Residual和不适配过滤。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" y="3246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383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纸面自动理财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32104" y="3703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教育性配置、再平衡草案和压力测试。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71416" y="3246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3383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AI Use Log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626864" y="3703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模型用途、输入边界、输出使用和人工核验。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66176" y="3246120"/>
            <a:ext cx="3429000" cy="1737360"/>
          </a:xfrm>
          <a:prstGeom prst="roundRect">
            <a:avLst>
              <a:gd name="adj" fmla="val 2632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3383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人工复核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8421624" y="3703320"/>
            <a:ext cx="31181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顾问/合规票据，阻断或降风险。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54480" y="5669280"/>
            <a:ext cx="914400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5742432"/>
            <a:ext cx="9052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输出：Investment Research Passport，而不是投资建议书、交易指令或收益承诺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三、系统架构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078992"/>
            <a:ext cx="2057400" cy="338328"/>
          </a:xfrm>
          <a:prstGeom prst="roundRect">
            <a:avLst>
              <a:gd name="adj" fmla="val 13514"/>
            </a:avLst>
          </a:prstGeom>
          <a:solidFill>
            <a:srgbClr val="1668A8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1521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投资者层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401568" y="11338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Purpose、风险承受、期限、回撤、应急金和行为偏差。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1847088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2011680"/>
            <a:ext cx="2057400" cy="338328"/>
          </a:xfrm>
          <a:prstGeom prst="roundRect">
            <a:avLst>
              <a:gd name="adj" fmla="val 13514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084832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数据证据层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401568" y="20665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行情、财报、公告、因子、估值、流动性和AI摘要。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779776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2944368"/>
            <a:ext cx="2057400" cy="338328"/>
          </a:xfrm>
          <a:prstGeom prst="roundRect">
            <a:avLst>
              <a:gd name="adj" fmla="val 13514"/>
            </a:avLst>
          </a:prstGeom>
          <a:solidFill>
            <a:srgbClr val="2E7D5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01752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DIKWP研究层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401568" y="2999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D/I/K/W/P/R闭合、3-No诊断、反证与Kill。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712464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" y="3877056"/>
            <a:ext cx="2057400" cy="338328"/>
          </a:xfrm>
          <a:prstGeom prst="roundRect">
            <a:avLst>
              <a:gd name="adj" fmla="val 13514"/>
            </a:avLst>
          </a:prstGeom>
          <a:solidFill>
            <a:srgbClr val="A86F12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395020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纸面组合层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3401568" y="3931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资产类别草案、再平衡规则、压力测试和不执行交易。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645152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" y="4809744"/>
            <a:ext cx="2057400" cy="338328"/>
          </a:xfrm>
          <a:prstGeom prst="roundRect">
            <a:avLst>
              <a:gd name="adj" fmla="val 13514"/>
            </a:avLst>
          </a:prstGeom>
          <a:solidFill>
            <a:srgbClr val="6741A5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488289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复核治理层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3401568" y="48646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顾问/合规票据、AI Use Log、适当性、冲突和审计。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88920" y="5806440"/>
            <a:ext cx="667512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5879592"/>
            <a:ext cx="6583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开源核心只做离线合成演示和纸面流程，不含任何交易能力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四、投资者适当性：先判断“能不能讨论”，再讨论“研究什么”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输入字段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年龄、资产、期限、最大回撤、目标收益、风险等级、应急金和家庭Purpose。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输出结论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26280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可进入投教/补证、纸面研究、降风险、阻断。预评估不等于正式客户风险等级。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红线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65592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一年内用钱、风险承受低、借贷投资、收益目标过高、未理解产品、被收益承诺诱导。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五、DIKWP股票研究闭环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DIKWP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数据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4124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行情、财报、公告、费用、流动性、客户资料。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信息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63600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估值、成长、质量、动量、风险暴露和集中度。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知识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43076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投资假设、行业逻辑、因子模型和监管知识。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 智慧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4124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风险预算、行为偏差、家庭责任和利益冲突。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目的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63600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投资期限、回撤、现金流、教育、养老、买房。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532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可靠性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843076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来源、冲突、AI贡献、模型漂移、Residual和Kill。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623560"/>
            <a:ext cx="914400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5696712"/>
            <a:ext cx="9052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“荐股”被改写为可审计研究Dossier：证据、反证、边界、复核与撤销条件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六、股票池Evidence Ledger：先证据，后候选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502920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数据源：行情、复权、财报、公告、行业分类、流动性和费用。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每条数据记录来源、更新时间、支持范围和不支持内容。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合成演示数据不能被升级为真实投资建议。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缺数据时进入补证，不进入强候选。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AI摘要必须保留引用和人工核验。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051560"/>
            <a:ext cx="5120640" cy="4206240"/>
          </a:xfrm>
          <a:prstGeom prst="roundRect">
            <a:avLst>
              <a:gd name="adj" fmla="val 1087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188720"/>
            <a:ext cx="4809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模板字段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6327648" y="1508760"/>
            <a:ext cx="480974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ticker_or_internal_id、name、sector、country_market、data_source、price_source、financial_source、quality、value、growth、momentum、risk、liquidity、ai_exposure、data_quality、is_real_security。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5623560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5696712"/>
            <a:ext cx="7223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数据账本的目的不是让AI看更多数据，而是防止AI把不可靠数据说成确定结论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七、因子解释：给出研究优先级，不给买卖建议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4124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现金流、ROE、负债、治理。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63600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估值相对历史/同行。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98755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12471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成长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430768" y="144475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收入、利润、行业空间。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动量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4124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趋势和市场关注。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63600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波动、回撤、拥挤、流动性。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5320" y="3227832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3364992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AI暴露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8430768" y="3685032"/>
            <a:ext cx="3118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AI受益/冲击程度，不等于利润。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83080" y="5669280"/>
            <a:ext cx="845820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5742432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每个因子都必须有反证：估值透支、价值陷阱、主题拥挤、财报不支持、流动性冲击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八、候选研究清单：四种状态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Dossier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051560"/>
            <a:ext cx="2514600" cy="416052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88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研究优先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932688" y="1508760"/>
            <a:ext cx="220370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证据相对完整，因子与Purpose基本匹配，可进入Dossier和纸面组合讨论。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051560"/>
            <a:ext cx="2514600" cy="416052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188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观察/补证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3584448" y="1508760"/>
            <a:ext cx="220370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部分因子较好，但存在估值、数据、风险或流动性缺口。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514600" cy="416052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188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不适配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236208" y="1508760"/>
            <a:ext cx="220370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与投资者期限、风险承受、Purpose或现金需求冲突。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32520" y="1051560"/>
            <a:ext cx="2514600" cy="416052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1188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暂不研究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887968" y="1508760"/>
            <a:ext cx="220370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数据质量不足或投资假设薄弱，保留但不进入组合。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5715000"/>
            <a:ext cx="864108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5788152"/>
            <a:ext cx="8549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这些状态不是“买入/持有/卖出”，只是研究流程状态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九、纸面自动理财：自动生成草案，不自动执行交易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Paper Portfolio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资产桶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现金/货币、债券、宽基权益、股票研究池、黄金/REITs等教育性讨论。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26280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根据风险等级、期限、现金需求和压力测试生成纸面目标比例。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65592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不连接券商，不申赎基金，不下单，不调仓，只输出人工复核草案。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十、自动再平衡规则：以纪律代替冲动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Rebalance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00584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43000"/>
            <a:ext cx="4764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漂移再平衡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932688" y="1463040"/>
            <a:ext cx="47640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偏离目标±5% → 生成草案 → 人工确认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143000"/>
            <a:ext cx="4764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回撤降风险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6464808" y="1463040"/>
            <a:ext cx="47640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超过最大回撤 → 暂停增仓 → 必须复核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42316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560320"/>
            <a:ext cx="4764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流动性保护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932688" y="2880360"/>
            <a:ext cx="47640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现金不足 → 提高现金/短债 → 客户确认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560320"/>
            <a:ext cx="4764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AI异常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6464808" y="2880360"/>
            <a:ext cx="47640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模型漂移/无来源预测 → 冻结AI信号 → 合规确认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977640"/>
            <a:ext cx="4764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Purpose变化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932688" y="4297680"/>
            <a:ext cx="47640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家庭/期限变化 → 旧组合失效 → 重做适当性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十一、压力测试与行为风险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市场压力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权益下跌35%、AI主题下跌50%、利率上行、流动性冲击和相关性上升。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家庭压力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26280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收入中断、买房/教育/医疗急用、应急金不足、客户无法承受回撤。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行为压力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65592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追热点、杠杆补仓、短视频荐股、把AI解释当内部消息。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5742432"/>
            <a:ext cx="813816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5815584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压力测试不预测市场，只测试投资者和组合能否承受不利情景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十二、产品/股票尽调：一票否决条件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Due Diligence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521208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无正式产品文件或数据来源不明。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风险等级与客户不匹配。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收益承诺、内部消息、保本暗示。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费用、锁定期、流动性和底层资产不透明。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利益冲突未披露。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AI输出无来源收益判断。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客户未理解或未确认。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绕过顾问/合规复核。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4892040" cy="4526280"/>
          </a:xfrm>
          <a:prstGeom prst="roundRect">
            <a:avLst>
              <a:gd name="adj" fmla="val 1010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143000"/>
            <a:ext cx="4581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尽调结果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6464808" y="1463040"/>
            <a:ext cx="458114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通过：可进入投教与人工讨论。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补证：缺文件或数据。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降风险：资产类别与Purpose冲突。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阻断：红线触发，不进入建议/销售/交易。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十三、AI Use Log：AI能整理，不能替人负责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AI治理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公告摘要、风险点归纳、因子解释、压力测试模板、投教草稿、代码审计。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26280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荐股、择时、收益承诺、诱导购买、内幕消息、自动交易和无来源研究。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96012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09728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日志字段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65592" y="1417320"/>
            <a:ext cx="3118104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工具、版本、用途、输入摘要、输出使用、人工核验、错误/拒绝、数据边界。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十四、顾问/合规复核票据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Ticket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423160" cy="3611880"/>
          </a:xfrm>
          <a:prstGeom prst="roundRect">
            <a:avLst>
              <a:gd name="adj" fmla="val 1887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46304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可讨论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932688" y="1783080"/>
            <a:ext cx="2112264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资料基本完整，可进入投教和讨论。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325880"/>
            <a:ext cx="2423160" cy="3611880"/>
          </a:xfrm>
          <a:prstGeom prst="roundRect">
            <a:avLst>
              <a:gd name="adj" fmla="val 1887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46304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请求补证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3721608" y="1783080"/>
            <a:ext cx="2112264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缺Purpose、产品文件、费用、流动性或数据。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2423160" cy="3611880"/>
          </a:xfrm>
          <a:prstGeom prst="roundRect">
            <a:avLst>
              <a:gd name="adj" fmla="val 1887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46304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降风险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510528" y="1783080"/>
            <a:ext cx="2112264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收益目标与风险承受冲突。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325880"/>
            <a:ext cx="2423160" cy="3611880"/>
          </a:xfrm>
          <a:prstGeom prst="roundRect">
            <a:avLst>
              <a:gd name="adj" fmla="val 1887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146304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阻断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9299448" y="1783080"/>
            <a:ext cx="2112264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无资格、无文件、收益承诺、AI无依据或不适配。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5440680"/>
            <a:ext cx="850392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5513832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系统输出必须被“人类责任人”接受、修改、退回或阻断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十五、3-No市场输入诊断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3-No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05840"/>
            <a:ext cx="3429000" cy="438912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4300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不完整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463040"/>
            <a:ext cx="311810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财报、公告、估值、流动性或客户Purpose缺失。动作：补证，不能给强候选。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1005840"/>
            <a:ext cx="3429000" cy="438912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14300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不一致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26280" y="1463040"/>
            <a:ext cx="311810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质量、估值、动量、新闻、AI摘要冲突。动作：保留多版本和反证。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005840"/>
            <a:ext cx="3429000" cy="4389120"/>
          </a:xfrm>
          <a:prstGeom prst="roundRect">
            <a:avLst>
              <a:gd name="adj" fmla="val 1333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143000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不精确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65592" y="1463040"/>
            <a:ext cx="311810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收益目标、期限、回撤、资产类别口径不清。动作：重做Purpose Contract。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十六、开源系统包结构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GitHub-ready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96012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09728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index.html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905256" y="141732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离线交互原型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8848" y="96012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09728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data/*.csv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654296" y="141732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股票池、纸面组合、AI日志、复核清单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47888" y="96012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09728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schemas/*.json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403336" y="141732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投资者、研究记录、纸面组合、复核票据、Passport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310896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A86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24612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A86F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tools/*.py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905256" y="356616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CLI与静态边界审计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98848" y="310896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324612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README/GOVERNANCE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654296" y="356616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禁止用途、试点和来源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47888" y="310896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3246120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PPT/DOCX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8403336" y="3566160"/>
            <a:ext cx="30723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展示与详细说明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十七、30天低风险试点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2514600" cy="374904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7160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第1周 冻结边界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86968" y="1691640"/>
            <a:ext cx="2203704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禁止荐股/下单，建立合成股票池和风险问卷。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84448" y="1234440"/>
            <a:ext cx="2514600" cy="374904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37160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8B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第2周 跑合成案例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3739896" y="1691640"/>
            <a:ext cx="2203704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测试Purpose、适当性、数据残差和压力情景。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37376" y="1234440"/>
            <a:ext cx="2514600" cy="374904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37160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第3周 加入尽调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592824" y="1691640"/>
            <a:ext cx="2203704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产品文件、费用、流动性、AI日志和利益冲突。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90304" y="1234440"/>
            <a:ext cx="2514600" cy="3749040"/>
          </a:xfrm>
          <a:prstGeom prst="roundRect">
            <a:avLst>
              <a:gd name="adj" fmla="val 1818"/>
            </a:avLst>
          </a:prstGeom>
          <a:solidFill>
            <a:srgbClr val="FBFDFF"/>
          </a:solidFill>
          <a:ln w="12700">
            <a:solidFill>
              <a:srgbClr val="6741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137160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6741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第4周 人工复核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9445752" y="1691640"/>
            <a:ext cx="2203704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顾问、合规、风控和审计复核，导出Passport。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5486400"/>
            <a:ext cx="978408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559552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验收：0真实荐股｜0交易连接｜0账号存储｜候选有反证｜人工复核必须存在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十八、可商业化但不越界的价值层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Layer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42416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个人投教：理解风险、资产类别、AI输出和行为偏差。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持牌机构内部：顾问草案、适当性准备和合规审计。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投研团队：统一Dossier模板、因子反证和AI Use Log。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高校/培训：量化投研、资产配置和金融AI治理课程。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不保留在开源核心：真实数据源适配、合规系统集成、正式顾问工作流和机构内控报告。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5623560"/>
            <a:ext cx="832104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569671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开源展示方法，正式金融服务必须由具备资格的主体在合规框架下提供</a:t>
            </a:r>
            <a:endParaRPr lang="en-US" sz="1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十九、最终定位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3337560" cy="3566160"/>
          </a:xfrm>
          <a:prstGeom prst="roundRect">
            <a:avLst>
              <a:gd name="adj" fmla="val 1370"/>
            </a:avLst>
          </a:prstGeom>
          <a:solidFill>
            <a:srgbClr val="FBFDFF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143000"/>
            <a:ext cx="3026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B83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1024128" y="1463040"/>
            <a:ext cx="302666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不是AI荐股群、不是自动下单机器人、不是保收益理财平台。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005840"/>
            <a:ext cx="3337560" cy="3566160"/>
          </a:xfrm>
          <a:prstGeom prst="roundRect">
            <a:avLst>
              <a:gd name="adj" fmla="val 1370"/>
            </a:avLst>
          </a:prstGeom>
          <a:solidFill>
            <a:srgbClr val="FBFDFF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143000"/>
            <a:ext cx="3026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E7D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590288" y="1463040"/>
            <a:ext cx="302666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证据化研究清单、纸面自动理财、适当性准备和人工复核工作台。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005840"/>
            <a:ext cx="3337560" cy="3566160"/>
          </a:xfrm>
          <a:prstGeom prst="roundRect">
            <a:avLst>
              <a:gd name="adj" fmla="val 1370"/>
            </a:avLst>
          </a:prstGeom>
          <a:solidFill>
            <a:srgbClr val="FBFDFF"/>
          </a:solidFill>
          <a:ln w="12700">
            <a:solidFill>
              <a:srgbClr val="166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1143000"/>
            <a:ext cx="3026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66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核心价值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156448" y="1463040"/>
            <a:ext cx="302666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把“这个股票能买吗？”改成“证据是什么、反证是什么、我是否适配、谁复核、何时撤销？”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5321808"/>
            <a:ext cx="7589520" cy="338328"/>
          </a:xfrm>
          <a:prstGeom prst="roundRect">
            <a:avLst>
              <a:gd name="adj" fmla="val 13514"/>
            </a:avLst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5394960"/>
            <a:ext cx="7498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合规金融AI的底线：越像能自动赚钱，越需要边界、证据、复核和审计</a:t>
            </a:r>
            <a:endParaRPr lang="en-US" sz="11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二十、主要参考与边界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469880" y="182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64808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DIKWP AI StockPicker AutoWealth Sandbox · Synthetic data · No live trading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1051560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中国证监会：《证券投资顾问业务暂行规定》与投资者适当性相关规则。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中国证监会：《证券市场程序化交易管理规定（试行）》和期货市场程序化交易管理要求。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IOSCO：AI/ML在市场中介与资产管理机构中的使用、治理、控制、测试、监测和透明披露。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NIST AI RMF 1.0：Govern、Map、Measure、Manage风险管理框架。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0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本原型使用合成数据，不能证明任何真实股票、基金或组合的未来表现。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5074920"/>
            <a:ext cx="10149840" cy="822960"/>
          </a:xfrm>
          <a:prstGeom prst="roundRect">
            <a:avLst>
              <a:gd name="adj" fmla="val 5556"/>
            </a:avLst>
          </a:prstGeom>
          <a:solidFill>
            <a:srgbClr val="FFF8E8"/>
          </a:solidFill>
          <a:ln w="12700">
            <a:solidFill>
              <a:srgbClr val="E2B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32180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847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正式部署前必须重新核验适用法域、牌照主体、客户适当性、产品文件、数据来源、利益冲突、AI模型风险和信息安全。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AI荐股器与自动理财平台的合规沙箱版</dc:title>
  <dc:subject>DIKWP AI StockPicker AutoWealth Sandbox 2026 V1</dc:subject>
  <dc:creator>OpenAI</dc:creator>
  <cp:lastModifiedBy>OpenAI</cp:lastModifiedBy>
  <cp:revision>1</cp:revision>
  <dcterms:created xsi:type="dcterms:W3CDTF">2026-06-29T09:22:17Z</dcterms:created>
  <dcterms:modified xsi:type="dcterms:W3CDTF">2026-06-29T09:22:17Z</dcterms:modified>
</cp:coreProperties>
</file>